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Unnoticed for 14 days</c:v>
                </c:pt>
              </c:strCache>
            </c:strRef>
          </c:tx>
          <c:spPr>
            <a:solidFill>
              <a:srgbClr val="C5221F"/>
            </a:solidFill>
          </c:spPr>
          <c:cat>
            <c:strRef>
              <c:f>Sheet1!$A$2:$A$5</c:f>
              <c:strCache>
                <c:ptCount val="4"/>
                <c:pt idx="0">
                  <c:v>Checkout errors</c:v>
                </c:pt>
                <c:pt idx="1">
                  <c:v>Dead-ends, rage clicks</c:v>
                </c:pt>
                <c:pt idx="2">
                  <c:v>Wrong totals</c:v>
                </c:pt>
                <c:pt idx="3">
                  <c:v>Slow responses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35.0</c:v>
                </c:pt>
                <c:pt idx="2">
                  <c:v>12.8</c:v>
                </c:pt>
                <c:pt idx="3">
                  <c:v>46.4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Caught in 1 day</c:v>
                </c:pt>
              </c:strCache>
            </c:strRef>
          </c:tx>
          <c:spPr>
            <a:solidFill>
              <a:srgbClr val="188038"/>
            </a:solidFill>
          </c:spPr>
          <c:cat>
            <c:strRef>
              <c:f>Sheet1!$A$2:$A$5</c:f>
              <c:strCache>
                <c:ptCount val="4"/>
                <c:pt idx="0">
                  <c:v>Checkout errors</c:v>
                </c:pt>
                <c:pt idx="1">
                  <c:v>Dead-ends, rage clicks</c:v>
                </c:pt>
                <c:pt idx="2">
                  <c:v>Wrong totals</c:v>
                </c:pt>
                <c:pt idx="3">
                  <c:v>Slow responses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2.5</c:v>
                </c:pt>
                <c:pt idx="2">
                  <c:v>0.9</c:v>
                </c:pt>
                <c:pt idx="3">
                  <c:v>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latin typeface="Google Sans Flex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ADCE0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ADCE0"/>
              </a:solidFill>
            </a:ln>
          </c:spPr>
        </c:majorGridlines>
        <c:numFmt formatCode="&quot;₹&quot;0&quot;L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latin typeface="Google Sans Flex"/>
            </a:defRPr>
          </a:pPr>
        </a:p>
      </c:txPr>
    </c:legend>
    <c:dispBlanksAs val="gap"/>
  </c:chart>
  <c:txPr>
    <a:bodyPr/>
    <a:lstStyle/>
    <a:p>
      <a:pPr>
        <a:defRPr sz="950">
          <a:latin typeface="Google Sans Flex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 [enter team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 [enter leader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800" b="0">
                <a:latin typeface="Google Sans Flex"/>
                <a:ea typeface="Google Sans Flex"/>
                <a:cs typeface="Google Sans Flex"/>
                <a:sym typeface="Google Sans Flex"/>
              </a:rPr>
              <a:t> Shoppers abandon checkout because of bugs nobody sees; teams learn about them days late, if ever.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55600" y="1143000"/>
            <a:ext cx="8432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02124"/>
                </a:solidFill>
                <a:latin typeface="Google Sans Flex SemiBold"/>
              </a:rPr>
              <a:t>Churn Preventer Agent</a:t>
            </a:r>
            <a:r>
              <a:rPr sz="1400">
                <a:solidFill>
                  <a:srgbClr val="202124"/>
                </a:solidFill>
                <a:latin typeface="Google Sans Flex"/>
              </a:rPr>
              <a:t> finds the bugs that make shoppers leave, ranks them by money lost, and re-checks the past when you add a rule.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55600" y="1778000"/>
            <a:ext cx="2692400" cy="261620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533400" y="1955800"/>
            <a:ext cx="330200" cy="38100"/>
          </a:xfrm>
          <a:prstGeom prst="rect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3400" y="2082800"/>
            <a:ext cx="233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>
                <a:solidFill>
                  <a:srgbClr val="202124"/>
                </a:solidFill>
                <a:latin typeface="Google Sans Flex SemiBold"/>
              </a:rPr>
              <a:t>The problem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3400" y="2438400"/>
            <a:ext cx="23622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Dead buttons, wrong totals, 500 errors at checkout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Shoppers leave; they do not complain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Analytics show the drop, not the cause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25800" y="1778000"/>
            <a:ext cx="2692400" cy="26162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403600" y="1955800"/>
            <a:ext cx="3302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03600" y="2082800"/>
            <a:ext cx="233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>
                <a:solidFill>
                  <a:srgbClr val="202124"/>
                </a:solidFill>
                <a:latin typeface="Google Sans Flex SemiBold"/>
              </a:rPr>
              <a:t>What we built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03600" y="2438400"/>
            <a:ext cx="23622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One script tag records sessions, inputs masked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Code groups them: one issue per bug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Gemini explains it and checks a screenshot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Four AI jurors approve each report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6000" y="1778000"/>
            <a:ext cx="2692400" cy="26162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273800" y="1955800"/>
            <a:ext cx="330200" cy="381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73800" y="2082800"/>
            <a:ext cx="2336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>
                <a:solidFill>
                  <a:srgbClr val="202124"/>
                </a:solidFill>
                <a:latin typeface="Google Sans Flex SemiBold"/>
              </a:rPr>
              <a:t>What the merchant 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73800" y="2438400"/>
            <a:ext cx="23622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Issues ranked by ₹ lost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A replay at the exact moment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Plain-English rules; a person approves</a:t>
            </a:r>
          </a:p>
          <a:p>
            <a:pPr marL="139700" indent="-139700">
              <a:lnSpc>
                <a:spcPct val="108000"/>
              </a:lnSpc>
              <a:spcAft>
                <a:spcPts val="7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A 30-day re-scan: past victims tagged "found later"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5600" y="4572000"/>
            <a:ext cx="843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Retail &amp; Commerce on Google Cloud: Cloud Run, Pub/Sub, BigQuery, Firestore, Gemini on Vertex AI. All demo data is synthetic.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55600" y="1168400"/>
            <a:ext cx="84328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55600" y="11684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4200" y="1320800"/>
            <a:ext cx="241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How is it different from existing ideas?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75000" y="1308100"/>
            <a:ext cx="54356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Replay tools flag rage clicks. We also catch silent bugs: a wrong cart total, a hidden ₹499 fee</a:t>
            </a:r>
          </a:p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A new rule re-scans 30 days of history; Time travel shows what we knew then vs now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55600" y="2438400"/>
            <a:ext cx="84328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5600" y="24384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4200" y="2590800"/>
            <a:ext cx="241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How does it solve the problem?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75000" y="2578100"/>
            <a:ext cx="54356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One issue per bug across all sessions, with the ₹ lost</a:t>
            </a:r>
          </a:p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Gemini root cause, screenshot proof, repro steps, a replay of the moment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5600" y="3708400"/>
            <a:ext cx="84328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355600" y="37084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4200" y="3860800"/>
            <a:ext cx="241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USP of the solution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75000" y="3848100"/>
            <a:ext cx="5435600" cy="96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Code decides findings and scores; Gemini explains</a:t>
            </a:r>
          </a:p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Four AI jurors gate each report; a person approves each rule</a:t>
            </a:r>
          </a:p>
          <a:p>
            <a:pPr marL="139700" indent="-139700">
              <a:lnSpc>
                <a:spcPct val="106000"/>
              </a:lnSpc>
              <a:spcAft>
                <a:spcPts val="500"/>
              </a:spcAft>
              <a:buChar char="•"/>
            </a:pPr>
            <a:r>
              <a:rPr sz="1200">
                <a:solidFill>
                  <a:srgbClr val="202124"/>
                </a:solidFill>
                <a:latin typeface="Google Sans Flex"/>
              </a:rPr>
              <a:t>An eval engine tests every prompt or model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55600" y="11684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82600" y="1231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6600" y="12192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One-tag SDK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rrweb recording; inputs masked, payments blocked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55600" y="17907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482600" y="1854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600" y="18415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Five detectors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Rage, dead click, slow, wrong numbers, errors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55600" y="24130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82600" y="2476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6600" y="24638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One issue per bug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Same fault across sessions = one issue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55600" y="30353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82600" y="3098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6600" y="30861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Revenue at risk in ₹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Cart sessions × value × abandonment gap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55600" y="36576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82600" y="3721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600" y="37084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Gemini explains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Triage, root cause, screenshot check, rank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55600" y="42799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82600" y="4343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6600" y="43307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AI jury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Four jurors and a judge; code gates at 66%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22800" y="11684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749800" y="12319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03800" y="12192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Rules in plain English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Draft, test run, approve, Undo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22800" y="17907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587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4749800" y="18542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03800" y="18415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Retroactive re-scan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30 days of raw sessions; "found later"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22800" y="24130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4749800" y="2476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03800" y="24638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Churn watcher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Finds numbers that make shoppers leave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622800" y="30353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4749800" y="30988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10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03800" y="30861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Time travel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What we knew then vs now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622800" y="36576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4749800" y="3721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003800" y="37084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Replay and visual proof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Jump to the moment; screenshot confirms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622800" y="4279900"/>
            <a:ext cx="4165600" cy="546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4749800" y="4343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1A73E8"/>
                </a:solidFill>
                <a:latin typeface="Google Sans Flex SemiBold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03800" y="4330700"/>
            <a:ext cx="37084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50">
                <a:solidFill>
                  <a:srgbClr val="202124"/>
                </a:solidFill>
                <a:latin typeface="Google Sans Flex SemiBold"/>
              </a:rPr>
              <a:t>Agent eval engine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>
                <a:solidFill>
                  <a:srgbClr val="5F6368"/>
                </a:solidFill>
                <a:latin typeface="Google Sans Flex"/>
              </a:rPr>
              <a:t>Golden cases test every prompt or model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55600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457200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A73E8"/>
                </a:solidFill>
                <a:latin typeface="Google Sans Flex SemiBold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Shopper browses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One script tag records the session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1606550" y="1803400"/>
            <a:ext cx="16002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798320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899920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A73E8"/>
                </a:solidFill>
                <a:latin typeface="Google Sans Flex SemiBold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99920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Ingest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99920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Collector scrubs; Pub/Sub keeps order</a:t>
            </a:r>
          </a:p>
        </p:txBody>
      </p:sp>
      <p:sp>
        <p:nvSpPr>
          <p:cNvPr id="105" name="Right Arrow 104"/>
          <p:cNvSpPr/>
          <p:nvPr/>
        </p:nvSpPr>
        <p:spPr>
          <a:xfrm>
            <a:off x="3049270" y="1803400"/>
            <a:ext cx="16002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241040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3342640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A73E8"/>
                </a:solidFill>
                <a:latin typeface="Google Sans Flex SemiBold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42640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Detect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42640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Five detectors read the session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4491990" y="1803400"/>
            <a:ext cx="16002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4683759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4785359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A73E8"/>
                </a:solidFill>
                <a:latin typeface="Google Sans Flex SemiBold"/>
              </a:rP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85359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Group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85359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One issue per bug across sessions</a:t>
            </a:r>
          </a:p>
        </p:txBody>
      </p:sp>
      <p:sp>
        <p:nvSpPr>
          <p:cNvPr id="115" name="Right Arrow 114"/>
          <p:cNvSpPr/>
          <p:nvPr/>
        </p:nvSpPr>
        <p:spPr>
          <a:xfrm>
            <a:off x="5934709" y="1803400"/>
            <a:ext cx="16002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126480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6228080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A73E8"/>
                </a:solidFill>
                <a:latin typeface="Google Sans Flex SemiBold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28080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Explain and rank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28080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Gemini, ₹ at risk, AI jury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7377430" y="1803400"/>
            <a:ext cx="16002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569200" y="1219200"/>
            <a:ext cx="1219200" cy="13208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7670800" y="12827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188038"/>
                </a:solidFill>
                <a:latin typeface="Google Sans Flex SemiBold"/>
              </a:rPr>
              <a:t>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70800" y="1524000"/>
            <a:ext cx="104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Merchant acts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70800" y="1930400"/>
            <a:ext cx="10414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Replay, fix, or approve a rule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5600" y="2641600"/>
            <a:ext cx="843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>
                <a:solidFill>
                  <a:srgbClr val="202124"/>
                </a:solidFill>
                <a:latin typeface="Google Sans Flex SemiBold"/>
              </a:rPr>
              <a:t>How a rule learns, then finds past damage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55600" y="2946400"/>
            <a:ext cx="1879600" cy="1270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482600" y="30226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C5221F"/>
                </a:solidFill>
                <a:latin typeface="Google Sans Flex SemiBold"/>
              </a:rPr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82600" y="3276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Someone suspects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2600" y="3530600"/>
            <a:ext cx="1651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The churn watcher, the rule suggester or a merchant (in plain English)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2286000" y="3505200"/>
            <a:ext cx="20320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2540000" y="2946400"/>
            <a:ext cx="1879600" cy="1270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2667000" y="30226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C5221F"/>
                </a:solidFill>
                <a:latin typeface="Google Sans Flex SemiBold"/>
              </a:rPr>
              <a:t>B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67000" y="3276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Draft and test run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67000" y="3530600"/>
            <a:ext cx="1651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Gemini drafts the rule; code compiles it and checks what it would flag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4470400" y="3505200"/>
            <a:ext cx="20320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4724400" y="2946400"/>
            <a:ext cx="1879600" cy="1270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4851400" y="30226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C5221F"/>
                </a:solidFill>
                <a:latin typeface="Google Sans Flex SemiBold"/>
              </a:rPr>
              <a:t>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851400" y="3276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A person approves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851400" y="3530600"/>
            <a:ext cx="1651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Nothing runs without a yes in the Rules tab; Undo is one click</a:t>
            </a:r>
          </a:p>
        </p:txBody>
      </p:sp>
      <p:sp>
        <p:nvSpPr>
          <p:cNvPr id="140" name="Right Arrow 139"/>
          <p:cNvSpPr/>
          <p:nvPr/>
        </p:nvSpPr>
        <p:spPr>
          <a:xfrm>
            <a:off x="6654800" y="3505200"/>
            <a:ext cx="203200" cy="152400"/>
          </a:xfrm>
          <a:prstGeom prst="rightArrow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6908800" y="2946400"/>
            <a:ext cx="1879600" cy="1270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7035800" y="3022600"/>
            <a:ext cx="25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C5221F"/>
                </a:solidFill>
                <a:latin typeface="Google Sans Flex SemiBold"/>
              </a:rPr>
              <a:t>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35800" y="3276600"/>
            <a:ext cx="165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Live, then history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035800" y="3530600"/>
            <a:ext cx="1651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Live within 15 s, and a re-scan of 30 days of raw sessions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55600" y="4368800"/>
            <a:ext cx="8432800" cy="508000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508000" y="4432300"/>
            <a:ext cx="8128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>
                <a:solidFill>
                  <a:srgbClr val="202124"/>
                </a:solidFill>
                <a:latin typeface="Google Sans Flex"/>
              </a:rPr>
              <a:t>Past victims return as </a:t>
            </a:r>
            <a:r>
              <a:rPr sz="1050" b="0">
                <a:solidFill>
                  <a:srgbClr val="202124"/>
                </a:solidFill>
                <a:latin typeface="Google Sans Flex SemiBold"/>
              </a:rPr>
              <a:t>"found later"</a:t>
            </a:r>
            <a:r>
              <a:rPr sz="1050">
                <a:solidFill>
                  <a:srgbClr val="202124"/>
                </a:solidFill>
                <a:latin typeface="Google Sans Flex"/>
              </a:rPr>
              <a:t> issues and feed step 5. Every stage is idempotent: keyed by session and sequence.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355600" y="1193800"/>
            <a:ext cx="5181600" cy="345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68300" y="1206500"/>
            <a:ext cx="5156200" cy="279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57200" y="1244600"/>
            <a:ext cx="1016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>
                <a:solidFill>
                  <a:srgbClr val="202124"/>
                </a:solidFill>
                <a:latin typeface="Google Sans Flex SemiBold"/>
              </a:rPr>
              <a:t>Churn Preventer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25600" y="12446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Dashboard   Issues   Rules   Time travel   Raw alerts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65600" y="1257300"/>
            <a:ext cx="1244600" cy="177800"/>
          </a:xfrm>
          <a:prstGeom prst="roundRect">
            <a:avLst>
              <a:gd name="adj" fmla="val 5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4203700" y="1257300"/>
            <a:ext cx="1168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FFFFFF"/>
                </a:solidFill>
                <a:latin typeface="Google Sans Flex"/>
              </a:rPr>
              <a:t>Open the shoe store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57200" y="1574800"/>
            <a:ext cx="1187450" cy="38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495300" y="1574800"/>
            <a:ext cx="1111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Shoppers affected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20850" y="1574800"/>
            <a:ext cx="1187450" cy="38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758950" y="1574800"/>
            <a:ext cx="1111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Open issues by priority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984500" y="1574800"/>
            <a:ext cx="1187450" cy="38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022600" y="1574800"/>
            <a:ext cx="1111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Waiting for approval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48150" y="1574800"/>
            <a:ext cx="1187450" cy="38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4286250" y="1574800"/>
            <a:ext cx="1111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Found later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57200" y="2032000"/>
            <a:ext cx="3175000" cy="248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533400" y="2082800"/>
            <a:ext cx="152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>
                <a:solidFill>
                  <a:srgbClr val="202124"/>
                </a:solidFill>
                <a:latin typeface="Google Sans Flex SemiBold"/>
              </a:rPr>
              <a:t>Money lost right now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3400" y="22352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>
                <a:solidFill>
                  <a:srgbClr val="C5221F"/>
                </a:solidFill>
                <a:latin typeface="Google Sans Flex SemiBold"/>
              </a:rPr>
              <a:t>₹ total, up or down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33400" y="2565400"/>
            <a:ext cx="3022600" cy="9652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571500" y="2565400"/>
            <a:ext cx="2946400" cy="96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800">
                <a:solidFill>
                  <a:srgbClr val="5F6368"/>
                </a:solidFill>
                <a:latin typeface="Google Sans Flex"/>
              </a:rPr>
              <a:t>Stacked chart: money lost over time, by issue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33400" y="36068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71500" y="36068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33400" y="39370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571500" y="39370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549400" y="36068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1587500" y="36068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49400" y="39370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1587500" y="39370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2565400" y="36068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2603500" y="36068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565400" y="3937000"/>
            <a:ext cx="990600" cy="279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2603500" y="3937000"/>
            <a:ext cx="91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Issue bar + trend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708400" y="2032000"/>
            <a:ext cx="1727200" cy="1524000"/>
          </a:xfrm>
          <a:prstGeom prst="roundRect">
            <a:avLst>
              <a:gd name="adj" fmla="val 5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3810000" y="2082800"/>
            <a:ext cx="157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>
                <a:solidFill>
                  <a:srgbClr val="C5221F"/>
                </a:solidFill>
                <a:latin typeface="Google Sans Flex SemiBold"/>
              </a:rPr>
              <a:t>Fix these first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810000" y="2311400"/>
            <a:ext cx="1524000" cy="342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3848100" y="23114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1  issue  ₹ lost  % of losses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810000" y="2705100"/>
            <a:ext cx="1524000" cy="342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3848100" y="27051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2  issue  ₹ lost  % of losses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810000" y="3098800"/>
            <a:ext cx="1524000" cy="3429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3848100" y="3098800"/>
            <a:ext cx="14478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3  issue  ₹ lost  % of losses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708400" y="3632200"/>
            <a:ext cx="1727200" cy="88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3746500" y="3632200"/>
            <a:ext cx="1651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800">
                <a:solidFill>
                  <a:srgbClr val="5F6368"/>
                </a:solidFill>
                <a:latin typeface="Google Sans Flex"/>
              </a:rPr>
              <a:t>Where shoppers hurt (by page)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55600" y="4699000"/>
            <a:ext cx="51816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Dashboard: the first glance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740400" y="1193800"/>
            <a:ext cx="3048000" cy="3454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5753100" y="1206500"/>
            <a:ext cx="3022600" cy="279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842000" y="1244600"/>
            <a:ext cx="15240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50">
                <a:solidFill>
                  <a:srgbClr val="202124"/>
                </a:solidFill>
                <a:latin typeface="Google Sans Flex SemiBold"/>
              </a:rPr>
              <a:t>Issue page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867400" y="157480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750">
                <a:solidFill>
                  <a:srgbClr val="C5221F"/>
                </a:solidFill>
                <a:latin typeface="Google Sans Flex"/>
              </a:rPr>
              <a:t>P0 urgent  ·  Checkout blocker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867400" y="17526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Plain title of the problem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867400" y="2082800"/>
            <a:ext cx="1270000" cy="431800"/>
          </a:xfrm>
          <a:prstGeom prst="roundRect">
            <a:avLst>
              <a:gd name="adj" fmla="val 5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905500" y="2082800"/>
            <a:ext cx="1193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C5221F"/>
                </a:solidFill>
                <a:latin typeface="Google Sans Flex"/>
              </a:rPr>
              <a:t>Revenue lost so far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213600" y="2082800"/>
            <a:ext cx="711200" cy="43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251700" y="2082800"/>
            <a:ext cx="635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Shoppers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975600" y="2082800"/>
            <a:ext cx="685800" cy="43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8013700" y="2082800"/>
            <a:ext cx="6096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00">
                <a:solidFill>
                  <a:srgbClr val="5F6368"/>
                </a:solidFill>
                <a:latin typeface="Google Sans Flex"/>
              </a:rPr>
              <a:t>Left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867400" y="2616200"/>
            <a:ext cx="2794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5905500" y="2616200"/>
            <a:ext cx="2717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What happened · Likely cause · Where to look first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867400" y="3200400"/>
            <a:ext cx="2794000" cy="43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905500" y="3200400"/>
            <a:ext cx="27178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How to reproduce: numbered steps with evidence chips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867400" y="3708400"/>
            <a:ext cx="2794000" cy="3556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5905500" y="3708400"/>
            <a:ext cx="27178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5F6368"/>
                </a:solidFill>
                <a:latin typeface="Google Sans Flex"/>
              </a:rPr>
              <a:t>Proof: screenshot with the defect outlined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867400" y="4140200"/>
            <a:ext cx="2794000" cy="33020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905500" y="4140200"/>
            <a:ext cx="27178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750">
                <a:solidFill>
                  <a:srgbClr val="188038"/>
                </a:solidFill>
                <a:latin typeface="Google Sans Flex"/>
              </a:rPr>
              <a:t>Reviewed by 4 AI jurors: Approved 99%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740400" y="46990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Issue: why it matters, and proof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55600" y="4826000"/>
            <a:ext cx="843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-hig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" y="1193800"/>
            <a:ext cx="8432800" cy="321376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355600" y="4470400"/>
            <a:ext cx="8432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3000"/>
              </a:lnSpc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Scales:</a:t>
            </a:r>
            <a:r>
              <a:rPr sz="1050">
                <a:solidFill>
                  <a:srgbClr val="202124"/>
                </a:solidFill>
                <a:latin typeface="Google Sans Flex"/>
              </a:rPr>
              <a:t> volume shrinks at every tier, and only issues reach Gemini</a:t>
            </a:r>
          </a:p>
          <a:p>
            <a:pPr marL="139700" indent="-139700">
              <a:lnSpc>
                <a:spcPct val="103000"/>
              </a:lnSpc>
              <a:spcAft>
                <a:spcPts val="3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Safe:</a:t>
            </a:r>
            <a:r>
              <a:rPr sz="1050">
                <a:solidFill>
                  <a:srgbClr val="202124"/>
                </a:solidFill>
                <a:latin typeface="Google Sans Flex"/>
              </a:rPr>
              <a:t> raw sessions never change; BigQuery is append-only; Gemini sees masked evidence, never raw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55600" y="11684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508000" y="13081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8000" y="13970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Capture SDK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8000" y="17272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rrweb 2.1.6, TypeScript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One-tag bundle (Vite)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Masking, 30 s buffer, number probes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25800" y="11684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3378200" y="13081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78200" y="13970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Agents and LLM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78200" y="17272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Gemini 3.5 Flash-Lite: triage, ranker, jurors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Gemini 3.8 Flash: root cause, rules (Vertex AI)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Google ADK 2.2.1; zod-checked JSON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096000" y="11684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6248400" y="13081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248400" y="13970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Backend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48400" y="17272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Node 22, TypeScript (strict)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Fastify 5: collector and API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Detectors as pure functions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55600" y="30988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08000" y="32385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08000" y="33274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Google Cloud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8000" y="36576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Cloud Run (6 services), Pub/Sub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Cloud Storage, BigQuery, Firestore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Secret Manager, Cloud Build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225800" y="30988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378200" y="32385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78200" y="33274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Dashboard and demo shop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78200" y="36576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React 19, Vite, Tailwind 4, Recharts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rrweb-player for replay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Shoe store with 13 planted bugs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096000" y="3098800"/>
            <a:ext cx="2692400" cy="18034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6248400" y="3238500"/>
            <a:ext cx="2794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248400" y="3327400"/>
            <a:ext cx="241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Testing and eval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48400" y="3657600"/>
            <a:ext cx="2438400" cy="121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Vitest: 533 tests pass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Simulator with ground truth (sim:check)</a:t>
            </a:r>
          </a:p>
          <a:p>
            <a:pPr marL="139700" indent="-139700">
              <a:lnSpc>
                <a:spcPct val="104000"/>
              </a:lnSpc>
              <a:spcAft>
                <a:spcPts val="5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Agent eval: 11 golden cases on Gemini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55600" y="1143000"/>
            <a:ext cx="8432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5000"/>
              </a:lnSpc>
              <a:spcAft>
                <a:spcPts val="200"/>
              </a:spcAft>
              <a:buChar char="•"/>
            </a:pPr>
            <a:r>
              <a:rPr sz="1100">
                <a:solidFill>
                  <a:srgbClr val="5F6368"/>
                </a:solidFill>
                <a:latin typeface="Google Sans Flex"/>
              </a:rPr>
              <a:t>Cost follows issues, not sessions: only issues reach Gemini</a:t>
            </a:r>
          </a:p>
          <a:p>
            <a:pPr marL="139700" indent="-139700">
              <a:lnSpc>
                <a:spcPct val="105000"/>
              </a:lnSpc>
              <a:spcAft>
                <a:spcPts val="200"/>
              </a:spcAft>
              <a:buChar char="•"/>
            </a:pPr>
            <a:r>
              <a:rPr sz="1100">
                <a:solidFill>
                  <a:srgbClr val="5F6368"/>
                </a:solidFill>
                <a:latin typeface="Google Sans Flex"/>
              </a:rPr>
              <a:t>Amounts in [brackets] are placeholders for the Cloud Billing report. Nothing here is measured</a:t>
            </a:r>
          </a:p>
        </p:txBody>
      </p:sp>
      <p:graphicFrame>
        <p:nvGraphicFramePr>
          <p:cNvPr id="129" name="Table 128"/>
          <p:cNvGraphicFramePr>
            <a:graphicFrameLocks noGrp="1"/>
          </p:cNvGraphicFramePr>
          <p:nvPr/>
        </p:nvGraphicFramePr>
        <p:xfrm>
          <a:off x="355600" y="1625600"/>
          <a:ext cx="84328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4724400"/>
                <a:gridCol w="18034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Google Sans Flex SemiBold"/>
                        </a:rPr>
                        <a:t>Service</a:t>
                      </a:r>
                    </a:p>
                  </a:txBody>
                  <a:tcPr marL="88900" marR="88900" marT="50800" marB="50800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Google Sans Flex SemiBold"/>
                        </a:rPr>
                        <a:t>What drives the cost</a:t>
                      </a:r>
                    </a:p>
                  </a:txBody>
                  <a:tcPr marL="88900" marR="88900" marT="50800" marB="50800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FFFFF"/>
                          </a:solidFill>
                          <a:latin typeface="Google Sans Flex SemiBold"/>
                        </a:rPr>
                        <a:t>Monthly</a:t>
                      </a:r>
                    </a:p>
                  </a:txBody>
                  <a:tcPr marL="88900" marR="88900" marT="50800" marB="50800" anchor="ctr">
                    <a:solidFill>
                      <a:srgbClr val="202124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Gemini on Vertex AI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200 issues a day × (6,000 in + 1,000 out tokens) at $0.75 / $3.75 per million (Gemini 3.8 Flash, to 31 Dec 2026)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≈ $50 (illustrative)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Cloud Run (6 services)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Agent warm (1 instance); the rest scale to zero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[₹ from billing]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Pub/Sub, Cloud Storage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Metadata messages; raw sessions expire in 30 days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[₹ from billing]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BigQuery, Firestore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Partitioned tables; live state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"/>
                        </a:rPr>
                        <a:t>[₹ from billing]</a:t>
                      </a:r>
                    </a:p>
                  </a:txBody>
                  <a:tcPr marL="88900" marR="88900" marT="50800" marB="50800" anchor="ctr">
                    <a:solidFill>
                      <a:srgbClr val="F1F3F4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Total for the demo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One tenant, synthetic traffic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202124"/>
                          </a:solidFill>
                          <a:latin typeface="Google Sans Flex SemiBold"/>
                        </a:rPr>
                        <a:t>[₹ total]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dashboard.png"/>
          <p:cNvPicPr>
            <a:picLocks noChangeAspect="1"/>
          </p:cNvPicPr>
          <p:nvPr/>
        </p:nvPicPr>
        <p:blipFill>
          <a:blip r:embed="rId5"/>
          <a:srcRect t="31000" b="2300"/>
          <a:stretch>
            <a:fillRect/>
          </a:stretch>
        </p:blipFill>
        <p:spPr>
          <a:xfrm>
            <a:off x="355600" y="1168400"/>
            <a:ext cx="4089400" cy="17018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55600" y="2908300"/>
            <a:ext cx="408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Dashboard: money lost over time, by issue, and what to fix first</a:t>
            </a:r>
          </a:p>
        </p:txBody>
      </p:sp>
      <p:pic>
        <p:nvPicPr>
          <p:cNvPr id="138" name="Picture 137" descr="issue.png"/>
          <p:cNvPicPr>
            <a:picLocks noChangeAspect="1"/>
          </p:cNvPicPr>
          <p:nvPr/>
        </p:nvPicPr>
        <p:blipFill>
          <a:blip r:embed="rId6"/>
          <a:srcRect t="3000" b="30300"/>
          <a:stretch>
            <a:fillRect/>
          </a:stretch>
        </p:blipFill>
        <p:spPr>
          <a:xfrm>
            <a:off x="4699000" y="1168400"/>
            <a:ext cx="4089400" cy="17018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99000" y="2908300"/>
            <a:ext cx="408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Issue: what happened, how to reproduce, reviewed by four AI jurors</a:t>
            </a:r>
          </a:p>
        </p:txBody>
      </p:sp>
      <p:pic>
        <p:nvPicPr>
          <p:cNvPr id="140" name="Picture 139" descr="timetravel.png"/>
          <p:cNvPicPr>
            <a:picLocks noChangeAspect="1"/>
          </p:cNvPicPr>
          <p:nvPr/>
        </p:nvPicPr>
        <p:blipFill>
          <a:blip r:embed="rId7"/>
          <a:srcRect t="24500" b="8800"/>
          <a:stretch>
            <a:fillRect/>
          </a:stretch>
        </p:blipFill>
        <p:spPr>
          <a:xfrm>
            <a:off x="355600" y="3124200"/>
            <a:ext cx="4089400" cy="17018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55600" y="4864100"/>
            <a:ext cx="408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Time travel: how long each problem went unnoticed (striped = unseen)</a:t>
            </a:r>
          </a:p>
        </p:txBody>
      </p:sp>
      <p:pic>
        <p:nvPicPr>
          <p:cNvPr id="142" name="Picture 141" descr="shop-checkout.png"/>
          <p:cNvPicPr>
            <a:picLocks noChangeAspect="1"/>
          </p:cNvPicPr>
          <p:nvPr/>
        </p:nvPicPr>
        <p:blipFill>
          <a:blip r:embed="rId8"/>
          <a:srcRect t="13000" b="20300"/>
          <a:stretch>
            <a:fillRect/>
          </a:stretch>
        </p:blipFill>
        <p:spPr>
          <a:xfrm>
            <a:off x="4699000" y="3124200"/>
            <a:ext cx="4089400" cy="17018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699000" y="4864100"/>
            <a:ext cx="4089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Demo shop checkout: each field explains what to fix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5600" y="4902200"/>
            <a:ext cx="8432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and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355600" y="1092200"/>
            <a:ext cx="381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202124"/>
                </a:solidFill>
                <a:latin typeface="Google Sans Flex SemiBold"/>
              </a:rPr>
              <a:t>Measured on the prototype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55600" y="1346200"/>
            <a:ext cx="1828800" cy="6985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69900" y="13970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>
                <a:solidFill>
                  <a:srgbClr val="1A73E8"/>
                </a:solidFill>
                <a:latin typeface="Google Sans Flex SemiBold"/>
              </a:rPr>
              <a:t>8 of 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9900" y="17272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02124"/>
                </a:solidFill>
                <a:latin typeface="Google Sans Flex"/>
              </a:rPr>
              <a:t>loud bugs found, one issue each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286000" y="1346200"/>
            <a:ext cx="1828800" cy="69850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2400300" y="13970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>
                <a:solidFill>
                  <a:srgbClr val="188038"/>
                </a:solidFill>
                <a:latin typeface="Google Sans Flex SemiBold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400300" y="17272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02124"/>
                </a:solidFill>
                <a:latin typeface="Google Sans Flex"/>
              </a:rPr>
              <a:t>false alarms; recall and precision 100%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55600" y="2133600"/>
            <a:ext cx="1828800" cy="6985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9900" y="21844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>
                <a:solidFill>
                  <a:srgbClr val="1A73E8"/>
                </a:solidFill>
                <a:latin typeface="Google Sans Flex SemiBold"/>
              </a:rPr>
              <a:t>27.6 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9900" y="25146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02124"/>
                </a:solidFill>
                <a:latin typeface="Google Sans Flex"/>
              </a:rPr>
              <a:t>shopper action to database row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286000" y="2133600"/>
            <a:ext cx="1828800" cy="69850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2400300" y="21844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900">
                <a:solidFill>
                  <a:srgbClr val="1A73E8"/>
                </a:solidFill>
                <a:latin typeface="Google Sans Flex SemiBold"/>
              </a:rPr>
              <a:t>11 of 11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400300" y="2514600"/>
            <a:ext cx="16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>
                <a:solidFill>
                  <a:srgbClr val="202124"/>
                </a:solidFill>
                <a:latin typeface="Google Sans Flex"/>
              </a:rPr>
              <a:t>golden cases pass the agent eval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55600" y="2997200"/>
            <a:ext cx="3759200" cy="195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240 simulated shoppers, 13 planted bugs, on Cloud Run</a:t>
            </a:r>
          </a:p>
          <a:p>
            <a:pPr marL="139700" indent="-139700">
              <a:lnSpc>
                <a:spcPct val="104000"/>
              </a:lnSpc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3 approved rules re-scanned 249 sessions in about 10 s; 12 past shoppers each</a:t>
            </a:r>
          </a:p>
          <a:p>
            <a:pPr marL="139700" indent="-139700">
              <a:lnSpc>
                <a:spcPct val="104000"/>
              </a:lnSpc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Jury approved 8 of 8 reports; 533 tests pass</a:t>
            </a:r>
          </a:p>
          <a:p>
            <a:pPr marL="139700" indent="-139700">
              <a:lnSpc>
                <a:spcPct val="104000"/>
              </a:lnSpc>
              <a:spcAft>
                <a:spcPts val="400"/>
              </a:spcAft>
              <a:buChar char="•"/>
            </a:pPr>
            <a:r>
              <a:rPr sz="1050">
                <a:solidFill>
                  <a:srgbClr val="202124"/>
                </a:solidFill>
                <a:latin typeface="Google Sans Flex"/>
              </a:rPr>
              <a:t>Eval engine: triage, root cause, ranker and jury all pass on real Gemini</a:t>
            </a:r>
          </a:p>
          <a:p>
            <a:pPr marL="139700" indent="-139700">
              <a:lnSpc>
                <a:spcPct val="104000"/>
              </a:lnSpc>
              <a:spcAft>
                <a:spcPts val="400"/>
              </a:spcAft>
              <a:buChar char="•"/>
            </a:pPr>
            <a:r>
              <a:rPr sz="1050" b="0">
                <a:solidFill>
                  <a:srgbClr val="202124"/>
                </a:solidFill>
                <a:latin typeface="Google Sans Flex SemiBold"/>
              </a:rPr>
              <a:t>Limit:</a:t>
            </a:r>
            <a:r>
              <a:rPr sz="1050">
                <a:solidFill>
                  <a:srgbClr val="202124"/>
                </a:solidFill>
                <a:latin typeface="Google Sans Flex"/>
              </a:rPr>
              <a:t> we planted the bugs, so recall is an upper bound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94200" y="1092200"/>
            <a:ext cx="4394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>
                <a:solidFill>
                  <a:srgbClr val="202124"/>
                </a:solidFill>
                <a:latin typeface="Google Sans Flex SemiBold"/>
              </a:rPr>
              <a:t>Illustrative projection: typical mid-size footwear platform</a:t>
            </a:r>
          </a:p>
        </p:txBody>
      </p:sp>
      <p:graphicFrame>
        <p:nvGraphicFramePr>
          <p:cNvPr id="159" name="Chart 158"/>
          <p:cNvGraphicFramePr>
            <a:graphicFrameLocks noGrp="1"/>
          </p:cNvGraphicFramePr>
          <p:nvPr/>
        </p:nvGraphicFramePr>
        <p:xfrm>
          <a:off x="4343400" y="1320800"/>
          <a:ext cx="4470400" cy="2616200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160" name="TextBox 159"/>
          <p:cNvSpPr txBox="1"/>
          <p:nvPr/>
        </p:nvSpPr>
        <p:spPr>
          <a:xfrm>
            <a:off x="4394200" y="39878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02124"/>
                </a:solidFill>
                <a:latin typeface="Google Sans Flex SemiBold"/>
              </a:rPr>
              <a:t>₹122L → ₹8.7L a month:</a:t>
            </a:r>
            <a:r>
              <a:rPr sz="1200">
                <a:solidFill>
                  <a:srgbClr val="202124"/>
                </a:solidFill>
                <a:latin typeface="Google Sans Flex"/>
              </a:rPr>
              <a:t> about ₹1.13 crore kept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394200" y="4267200"/>
            <a:ext cx="439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850">
                <a:solidFill>
                  <a:srgbClr val="5F6368"/>
                </a:solidFill>
                <a:latin typeface="Google Sans Flex"/>
              </a:rPr>
              <a:t>Illustrative projection, not a measured result. Assumed: [100,000] cart sessions a month, [₹4,000] cart, [2% / 5% / 1.5% / 4%] affected, [14 days] vs [1 day] to notice. Abandon gaps come from the simulator (normal shoppers 21%).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and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55600" y="11684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355600" y="11684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58800" y="12954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Login and signed replay links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58800" y="16256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The demo is public and synthetic</a:t>
            </a:r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Real stores need sign-in and short-lived links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22800" y="11684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4622800" y="11684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826000" y="12954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The rebuild path for rules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826000" y="16256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Rules on numbers nobody recorded</a:t>
            </a:r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Needs a headless replay; the fast path is built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55600" y="24130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355600" y="24130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58800" y="254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Pilot on real traffic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8800" y="28702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Replace the projection with real abandonment gaps</a:t>
            </a:r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Add the pilot store to the eval golden set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622800" y="24130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4622800" y="24130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826000" y="254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Alerts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826000" y="28702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Slack or email when a P0 issue appears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55600" y="36576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355600" y="3657600"/>
            <a:ext cx="50800" cy="1143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58800" y="3784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Scale-out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58800" y="41148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Per-tenant subscriptions and quotas</a:t>
            </a:r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Shared session cache; BigQuery Storage Write API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22800" y="3657600"/>
            <a:ext cx="4165600" cy="11430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4622800" y="3657600"/>
            <a:ext cx="50800" cy="11430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826000" y="3784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>
                <a:solidFill>
                  <a:srgbClr val="202124"/>
                </a:solidFill>
                <a:latin typeface="Google Sans Flex SemiBold"/>
              </a:rPr>
              <a:t>Out of scope by design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26000" y="4114800"/>
            <a:ext cx="3810000" cy="66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Heatmaps, funnels, mobile SDKs, billing</a:t>
            </a:r>
          </a:p>
          <a:p>
            <a:pPr marL="139700" indent="-139700">
              <a:lnSpc>
                <a:spcPct val="104000"/>
              </a:lnSpc>
              <a:spcAft>
                <a:spcPts val="300"/>
              </a:spcAft>
              <a:buChar char="•"/>
            </a:pPr>
            <a:r>
              <a:rPr sz="1100">
                <a:solidFill>
                  <a:srgbClr val="202124"/>
                </a:solidFill>
                <a:latin typeface="Google Sans Flex"/>
              </a:rPr>
              <a:t>Auto-fixing customer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55600" y="1270000"/>
            <a:ext cx="8432800" cy="9652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355600" y="1270000"/>
            <a:ext cx="50800" cy="965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84200" y="13843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202124"/>
                </a:solidFill>
                <a:latin typeface="Google Sans Flex SemiBold"/>
              </a:rPr>
              <a:t>GitHub public repository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84200" y="16510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1A73E8"/>
                </a:solidFill>
                <a:latin typeface="Google Sans Flex"/>
              </a:rPr>
              <a:t>https://github.com/anshj0712/gemai-defcon1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84200" y="1905000"/>
            <a:ext cx="800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[make the repository public before submitting: it is private today]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55600" y="2362200"/>
            <a:ext cx="8432800" cy="9652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355600" y="2362200"/>
            <a:ext cx="50800" cy="965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84200" y="24765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202124"/>
                </a:solidFill>
                <a:latin typeface="Google Sans Flex SemiBold"/>
              </a:rPr>
              <a:t>Demo video link (3 minutes)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84200" y="27432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C5221F"/>
                </a:solidFill>
                <a:latin typeface="Google Sans Flex"/>
              </a:rPr>
              <a:t>[demo video link: not recorded yet]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55600" y="3454400"/>
            <a:ext cx="8432800" cy="96520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355600" y="3454400"/>
            <a:ext cx="50800" cy="9652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84200" y="35687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202124"/>
                </a:solidFill>
                <a:latin typeface="Google Sans Flex SemiBold"/>
              </a:rPr>
              <a:t>Final product link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84200" y="3835400"/>
            <a:ext cx="800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>
                <a:solidFill>
                  <a:srgbClr val="1A73E8"/>
                </a:solidFill>
                <a:latin typeface="Google Sans Flex"/>
              </a:rPr>
              <a:t>https://cp-api-w46tbwzpaq-el.a.run.app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84200" y="4089400"/>
            <a:ext cx="8001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>
                <a:solidFill>
                  <a:srgbClr val="5F6368"/>
                </a:solidFill>
                <a:latin typeface="Google Sans Flex"/>
              </a:rPr>
              <a:t>Churn dashboard (no login; synthetic data). Its "Open the shoe store" button opens the demo shop: https://cp-shop-w46tbwzpaq-el.a.run.app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